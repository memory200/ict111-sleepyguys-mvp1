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4206240"/>
            <a:ext cx="4023360" cy="402336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VENTURE PITCH • CAMPUS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Smart Campus Lost and</a:t>
            </a:r>
          </a:p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Found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8C2D1"/>
                </a:solidFill>
                <a:latin typeface="Calibri"/>
              </a:rPr>
              <a:t>Centralized Digital Item Recovery Platform for University Campuses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9204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059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TEAM SLEEPYGUYS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8C2D1"/>
                </a:solidFill>
                <a:latin typeface="Calibri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40135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SC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69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Problem &amp; Target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38528"/>
            <a:ext cx="11091672" cy="1828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3969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32888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Campus lost-and-found is fragmented across unofficial Telegram/Facebook groups and paper noticeboards, resulting in low recovery rates and unverified claims.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87368"/>
            <a:ext cx="5349240" cy="1737360"/>
          </a:xfrm>
          <a:prstGeom prst="roundRect">
            <a:avLst>
              <a:gd name="adj" fmla="val 8000"/>
            </a:avLst>
          </a:prstGeom>
          <a:solidFill>
            <a:srgbClr val="273348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431596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4608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Students &amp; Academic Staff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21808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2D1"/>
                </a:solidFill>
                <a:latin typeface="Calibri"/>
              </a:rPr>
              <a:t>Everyday people reporting and searching for lost items on campus.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4087368"/>
            <a:ext cx="5349240" cy="1737360"/>
          </a:xfrm>
          <a:prstGeom prst="roundRect">
            <a:avLst>
              <a:gd name="adj" fmla="val 8000"/>
            </a:avLst>
          </a:prstGeom>
          <a:solidFill>
            <a:srgbClr val="273348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65392" y="431596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059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SECONDARY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4864608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Campus Security &amp; Office Admins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5321808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2D1"/>
                </a:solidFill>
                <a:latin typeface="Calibri"/>
              </a:rPr>
              <a:t>Verify claims, manage inventory, and reduce manual overhead.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8C2D1"/>
                </a:solidFill>
                <a:latin typeface="Calibr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40135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SC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69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User Discovery &amp; Validation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84248"/>
            <a:ext cx="4297680" cy="3520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87168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38BDF8"/>
                </a:solidFill>
                <a:latin typeface="Calibri"/>
              </a:rPr>
              <a:t>78%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50208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of surveyed students struggle to recover lost items during exam weeks.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9512" y="1984248"/>
            <a:ext cx="6400800" cy="3520440"/>
          </a:xfrm>
          <a:prstGeom prst="roundRect">
            <a:avLst>
              <a:gd name="adj" fmla="val 8000"/>
            </a:avLst>
          </a:prstGeom>
          <a:solidFill>
            <a:srgbClr val="273348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05272" y="230428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59661"/>
                </a:solidFill>
                <a:latin typeface="Calibri"/>
              </a:rPr>
              <a:t>CORE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5272" y="2761488"/>
            <a:ext cx="56692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FFFFFF"/>
                </a:solidFill>
                <a:latin typeface="Calibri"/>
              </a:rPr>
              <a:t>Users demand a single, centralized portal with instant search and filters — instead of manually scrolling through social media groups to find their belongings.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8C2D1"/>
                </a:solidFill>
                <a:latin typeface="Calibr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40135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SC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69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Solution &amp; Value Proposition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84248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5856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61488"/>
            <a:ext cx="47091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50" b="1" i="0">
                <a:solidFill>
                  <a:srgbClr val="38BDF8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B8C2D1"/>
                </a:solidFill>
                <a:latin typeface="Calibri"/>
              </a:rPr>
              <a:t>Centralized web portal for all campus lost &amp; found activity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50" b="1" i="0">
                <a:solidFill>
                  <a:srgbClr val="38BDF8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B8C2D1"/>
                </a:solidFill>
                <a:latin typeface="Calibri"/>
              </a:rPr>
              <a:t>Category and location-based filtering for fast search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50" b="1" i="0">
                <a:solidFill>
                  <a:srgbClr val="38BDF8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B8C2D1"/>
                </a:solidFill>
                <a:latin typeface="Calibri"/>
              </a:rPr>
              <a:t>Status badges: Unclaimed, Pending, Claimed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50" b="1" i="0">
                <a:solidFill>
                  <a:srgbClr val="38BDF8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B8C2D1"/>
                </a:solidFill>
                <a:latin typeface="Calibri"/>
              </a:rPr>
              <a:t>Verified claim workflow to confirm rightful ownership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984248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273348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25856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59661"/>
                </a:solidFill>
                <a:latin typeface="Calibri"/>
              </a:rPr>
              <a:t>VALUE PROPOSITION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80720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59661"/>
                </a:solidFill>
                <a:latin typeface="Calibri"/>
              </a:rPr>
              <a:t>&lt; 45 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331012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2D1"/>
                </a:solidFill>
                <a:latin typeface="Calibri"/>
              </a:rPr>
              <a:t>Reporting time reduced from minutes to 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385876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Enhanced Claim 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422452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2D1"/>
                </a:solidFill>
                <a:latin typeface="Calibri"/>
              </a:rPr>
              <a:t>Identity verified before contact details are shared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481888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Reduced Admin Overhead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518464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2D1"/>
                </a:solidFill>
                <a:latin typeface="Calibri"/>
              </a:rPr>
              <a:t>Security staff manage claims digitally, not on paper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8C2D1"/>
                </a:solidFill>
                <a:latin typeface="Calibr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LIVE PROTOTYPE • SCREEN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Homepage — Landing &amp; Entry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02775" y="530352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SCREEN 1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62011"/>
            <a:ext cx="11091672" cy="222211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_2026-07-26_at_6_51_08_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026603"/>
            <a:ext cx="10762488" cy="1892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90488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i="0">
                <a:solidFill>
                  <a:srgbClr val="B8C2D1"/>
                </a:solidFill>
                <a:latin typeface="Calibri"/>
              </a:rPr>
              <a:t>Clear campus branding and a single call-to-action get students straight into reporting or searching — no sign-up wall in the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8C2D1"/>
                </a:solidFill>
                <a:latin typeface="Calibr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LIVE PROTOTYPE • SCREEN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Report an Item — Structured Submission 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02775" y="530352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SCREEN 2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635" y="1892808"/>
            <a:ext cx="8809681" cy="41605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_2026-07-26_at_6_43_50_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27" y="2057400"/>
            <a:ext cx="8480497" cy="3831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90488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i="0">
                <a:solidFill>
                  <a:srgbClr val="B8C2D1"/>
                </a:solidFill>
                <a:latin typeface="Calibri"/>
              </a:rPr>
              <a:t>Category and Campus Location dropdowns (FR-1.2) constrain input to valid, searchable values instead of free-text guesswork.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8C2D1"/>
                </a:solidFill>
                <a:latin typeface="Calibr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LIVE PROTOTYPE • SCREEN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Browse Reported Items — Search &amp; Filter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02775" y="530352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059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SCREEN 3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0993" y="1892808"/>
            <a:ext cx="9366964" cy="41605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_2026-07-26_at_6_44_10_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585" y="2057400"/>
            <a:ext cx="9037780" cy="3831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90488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i="0">
                <a:solidFill>
                  <a:srgbClr val="B8C2D1"/>
                </a:solidFill>
                <a:latin typeface="Calibri"/>
              </a:rPr>
              <a:t>Keyword search plus category filtering replace endless social-media scrolling with instant, structured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8C2D1"/>
                </a:solidFill>
                <a:latin typeface="Calibr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LIVE PROTOTYPE • SCREEN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Item Detail View — Verified Claim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02775" y="530352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059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SCREEN 4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90422" y="1892808"/>
            <a:ext cx="8008107" cy="41605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_2026-07-26_at_7_04_08_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014" y="2057400"/>
            <a:ext cx="7678923" cy="3831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90488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i="0">
                <a:solidFill>
                  <a:srgbClr val="B8C2D1"/>
                </a:solidFill>
                <a:latin typeface="Calibri"/>
              </a:rPr>
              <a:t>A focused detail modal surfaces category, location, description, and status — the entry point into the verified claim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8C2D1"/>
                </a:solidFill>
                <a:latin typeface="Calibr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LIVE PROTOTYPE • SCREEN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Security Desk Admin Console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02775" y="530352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SCREEN 5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3590" y="1892808"/>
            <a:ext cx="10781770" cy="41605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_2026-07-26_at_6_44_21_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82" y="2057400"/>
            <a:ext cx="10452586" cy="3831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90488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i="0">
                <a:solidFill>
                  <a:srgbClr val="B8C2D1"/>
                </a:solidFill>
                <a:latin typeface="Calibri"/>
              </a:rPr>
              <a:t>Campus security updates claim status (FR-3.2) in one click — replacing manual paper logs with a real-time, auditable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8C2D1"/>
                </a:solidFill>
                <a:latin typeface="Calibr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COMING NEXT • IN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869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Security Analytics Dashboard (Wireframe)</a:t>
            </a:r>
          </a:p>
        </p:txBody>
      </p:sp>
      <p:sp>
        <p:nvSpPr>
          <p:cNvPr id="4" name="Oval 3"/>
          <p:cNvSpPr/>
          <p:nvPr/>
        </p:nvSpPr>
        <p:spPr>
          <a:xfrm>
            <a:off x="11140135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SC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04618"/>
            <a:ext cx="11091672" cy="2336899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_2026-07-22_at_5_28_29_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969210"/>
            <a:ext cx="10762488" cy="20077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90488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i="0">
                <a:solidFill>
                  <a:srgbClr val="B8C2D1"/>
                </a:solidFill>
                <a:latin typeface="Calibri"/>
              </a:rPr>
              <a:t>Early wireframe for campus-wide recovery metrics — total reports, claim rate, and pending pickups — planned for the next build phase.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8C2D1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40135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SC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69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Business Model &amp; Go-To-Market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84248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25856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98648"/>
            <a:ext cx="4709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B2B Campus SaaS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84448"/>
            <a:ext cx="4709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2D1"/>
                </a:solidFill>
                <a:latin typeface="Calibri"/>
              </a:rPr>
              <a:t>Annual enterprise subscription license billed directly to university administration — predictable, recurring revenue tied to each campus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984248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273348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11112" y="225856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59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GO-TO-MARKET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898648"/>
            <a:ext cx="4709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Orientation Week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3584448"/>
            <a:ext cx="4709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2D1"/>
                </a:solidFill>
                <a:latin typeface="Calibri"/>
              </a:rPr>
              <a:t>Strategic QR code posters placed in high-traffic campus zones during Orientation Weeks, driving early adoption from incoming students.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8C2D1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40135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SC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69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Product &amp; Startup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67128"/>
            <a:ext cx="5349240" cy="3291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892040" cy="18105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59661"/>
                </a:solidFill>
                <a:latin typeface="Calibri"/>
              </a:rPr>
              <a:t>82%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76395"/>
            <a:ext cx="4892040" cy="12508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C2D1"/>
                </a:solidFill>
                <a:latin typeface="Calibri"/>
              </a:rPr>
              <a:t>Successful Item Recovery Rate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C2D1"/>
                </a:solidFill>
                <a:latin typeface="Calibri"/>
              </a:rPr>
              <a:t>during prototype user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167128"/>
            <a:ext cx="5349240" cy="3291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331720"/>
            <a:ext cx="4892040" cy="18105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38BDF8"/>
                </a:solidFill>
                <a:latin typeface="Calibri"/>
              </a:rPr>
              <a:t>&lt; 45 sec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4076395"/>
            <a:ext cx="4892040" cy="12508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C2D1"/>
                </a:solidFill>
                <a:latin typeface="Calibri"/>
              </a:rPr>
              <a:t>Average Time to Report a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C2D1"/>
                </a:solidFill>
                <a:latin typeface="Calibri"/>
              </a:rPr>
              <a:t>Lost or Found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8C2D1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40135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SC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69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Technical Architecture &amp; Data Handling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84248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5856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TECH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807208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27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400" b="1" i="0">
                <a:solidFill>
                  <a:srgbClr val="38BDF8"/>
                </a:solidFill>
                <a:latin typeface="Calibri"/>
              </a:rPr>
              <a:t>HTML5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520440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27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400" b="1" i="0">
                <a:solidFill>
                  <a:srgbClr val="38BDF8"/>
                </a:solidFill>
                <a:latin typeface="Calibri"/>
              </a:rPr>
              <a:t>CSS3 (Flexbox / Grid)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233672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27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400" b="1" i="0">
                <a:solidFill>
                  <a:srgbClr val="38BDF8"/>
                </a:solidFill>
                <a:latin typeface="Calibri"/>
              </a:rPr>
              <a:t>Modern ES6 JavaScript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984248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273348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225856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59661"/>
                </a:solidFill>
                <a:latin typeface="Calibri"/>
              </a:rPr>
              <a:t>DATA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807208"/>
            <a:ext cx="4709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Simulated persistent storage using the browser's LocalStorage layer, enabling real-time Create, Read, Update, and Delete (CRUD) operations for the prototype without a backend server.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8C2D1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40135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SC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69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Future Roadmap &amp; Technical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29968"/>
            <a:ext cx="5349240" cy="3520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30428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44368"/>
            <a:ext cx="4709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AI-Based Image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30168"/>
            <a:ext cx="4709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B8C2D1"/>
                </a:solidFill>
                <a:latin typeface="Calibri"/>
              </a:rPr>
              <a:t>Automatically compare photos of reported lost items against the found-items database to surface likely matches instantly.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2029968"/>
            <a:ext cx="5349240" cy="3520440"/>
          </a:xfrm>
          <a:prstGeom prst="roundRect">
            <a:avLst>
              <a:gd name="adj" fmla="val 8000"/>
            </a:avLst>
          </a:prstGeom>
          <a:solidFill>
            <a:srgbClr val="273348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11112" y="230428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59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944368"/>
            <a:ext cx="4709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Campus SSO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3630168"/>
            <a:ext cx="4709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B8C2D1"/>
                </a:solidFill>
                <a:latin typeface="Calibri"/>
              </a:rPr>
              <a:t>Single Sign-On with university student credentials to verify ownership and streamline authenticated access to the portal.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8C2D1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Closing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38BDF8"/>
                </a:solidFill>
                <a:latin typeface="Calibri"/>
              </a:rPr>
              <a:t>Turning lost items into quick campus recoveries.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572000"/>
            <a:ext cx="658368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  <a:effectLst>
            <a:outerShdw blurRad="90000" dist="3000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5943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Thank You! Open for Questions &amp; Discussion.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436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59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TEAM SLEEPYGUYS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8C2D1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